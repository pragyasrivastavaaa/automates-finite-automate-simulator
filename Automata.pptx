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Red Hat Display Bold" charset="1" panose="02010803040201060303"/>
      <p:regular r:id="rId17"/>
    </p:embeddedFont>
    <p:embeddedFont>
      <p:font typeface="Red Hat Display Bold Italics" charset="1" panose="020108030402010D0303"/>
      <p:regular r:id="rId18"/>
    </p:embeddedFont>
    <p:embeddedFont>
      <p:font typeface="Inter Medium" charset="1" panose="02000503000000020004"/>
      <p:regular r:id="rId19"/>
    </p:embeddedFont>
    <p:embeddedFont>
      <p:font typeface="Inter" charset="1" panose="020B050203000000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88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28099" y="1539161"/>
            <a:ext cx="7719139" cy="771913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596960" y="1539161"/>
            <a:ext cx="7719139" cy="771913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36630" y="6009010"/>
            <a:ext cx="2469284" cy="4409435"/>
          </a:xfrm>
          <a:custGeom>
            <a:avLst/>
            <a:gdLst/>
            <a:ahLst/>
            <a:cxnLst/>
            <a:rect r="r" b="b" t="t" l="l"/>
            <a:pathLst>
              <a:path h="4409435" w="2469284">
                <a:moveTo>
                  <a:pt x="0" y="0"/>
                </a:moveTo>
                <a:lnTo>
                  <a:pt x="2469283" y="0"/>
                </a:lnTo>
                <a:lnTo>
                  <a:pt x="2469283" y="4409435"/>
                </a:lnTo>
                <a:lnTo>
                  <a:pt x="0" y="4409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5082087" y="6009010"/>
            <a:ext cx="2469284" cy="4409435"/>
          </a:xfrm>
          <a:custGeom>
            <a:avLst/>
            <a:gdLst/>
            <a:ahLst/>
            <a:cxnLst/>
            <a:rect r="r" b="b" t="t" l="l"/>
            <a:pathLst>
              <a:path h="4409435" w="2469284">
                <a:moveTo>
                  <a:pt x="2469283" y="0"/>
                </a:moveTo>
                <a:lnTo>
                  <a:pt x="0" y="0"/>
                </a:lnTo>
                <a:lnTo>
                  <a:pt x="0" y="4409435"/>
                </a:lnTo>
                <a:lnTo>
                  <a:pt x="2469283" y="4409435"/>
                </a:lnTo>
                <a:lnTo>
                  <a:pt x="24692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30217" y="1013257"/>
            <a:ext cx="860074" cy="333578"/>
            <a:chOff x="0" y="0"/>
            <a:chExt cx="1146765" cy="444771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0">
            <a:off x="16397710" y="1028700"/>
            <a:ext cx="860074" cy="333578"/>
            <a:chOff x="0" y="0"/>
            <a:chExt cx="1146765" cy="444771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TextBox 24" id="24"/>
          <p:cNvSpPr txBox="true"/>
          <p:nvPr/>
        </p:nvSpPr>
        <p:spPr>
          <a:xfrm rot="0">
            <a:off x="2691040" y="1443911"/>
            <a:ext cx="12516674" cy="3214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36"/>
              </a:lnSpc>
              <a:spcBef>
                <a:spcPct val="0"/>
              </a:spcBef>
            </a:pPr>
            <a:r>
              <a:rPr lang="en-US" b="true" sz="4883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AUTOMAT</a:t>
            </a:r>
            <a:r>
              <a:rPr lang="en-US" b="true" sz="4883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ES: AUTOMATA REIMAGINED</a:t>
            </a:r>
          </a:p>
          <a:p>
            <a:pPr algn="ctr">
              <a:lnSpc>
                <a:spcPts val="6276"/>
              </a:lnSpc>
              <a:spcBef>
                <a:spcPct val="0"/>
              </a:spcBef>
            </a:pPr>
            <a:r>
              <a:rPr lang="en-US" b="true" sz="4483" i="true">
                <a:solidFill>
                  <a:srgbClr val="000000"/>
                </a:solidFill>
                <a:latin typeface="Red Hat Display Bold Italics"/>
                <a:ea typeface="Red Hat Display Bold Italics"/>
                <a:cs typeface="Red Hat Display Bold Italics"/>
                <a:sym typeface="Red Hat Display Bold Italics"/>
              </a:rPr>
              <a:t>A JOURNEY THROUGH STATES WITH INTERACTIVE TOOLS &amp; VISUAL SIMULATIONS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958875" y="4923160"/>
            <a:ext cx="837025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spc="9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 WEB-BASED PLATFORM FOR LEARNING AND EXPLORING FINITE AUTOMATA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532070" y="7461885"/>
            <a:ext cx="8834615" cy="2956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CREATED BY: </a:t>
            </a:r>
          </a:p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PRAGYA SRIVASTAVA</a:t>
            </a:r>
          </a:p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ASHMI BANSAL</a:t>
            </a:r>
          </a:p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ADITI MISHRA</a:t>
            </a:r>
          </a:p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B.TECH CSE 2ND YEAR</a:t>
            </a:r>
          </a:p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THEORY OF COMPUTATION PROJECT</a:t>
            </a:r>
          </a:p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28099" y="1539161"/>
            <a:ext cx="7719139" cy="771913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884C7">
                <a:alpha val="4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30217" y="1013257"/>
            <a:ext cx="860074" cy="333578"/>
            <a:chOff x="0" y="0"/>
            <a:chExt cx="1146765" cy="444771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884C7">
                  <a:alpha val="49804"/>
                </a:srgbClr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884C7">
                  <a:alpha val="49804"/>
                </a:srgbClr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571961" y="3039811"/>
            <a:ext cx="3811081" cy="4717838"/>
            <a:chOff x="0" y="0"/>
            <a:chExt cx="760598" cy="9415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0598" cy="941564"/>
            </a:xfrm>
            <a:custGeom>
              <a:avLst/>
              <a:gdLst/>
              <a:ahLst/>
              <a:cxnLst/>
              <a:rect r="r" b="b" t="t" l="l"/>
              <a:pathLst>
                <a:path h="941564" w="760598">
                  <a:moveTo>
                    <a:pt x="46723" y="0"/>
                  </a:moveTo>
                  <a:lnTo>
                    <a:pt x="713875" y="0"/>
                  </a:lnTo>
                  <a:cubicBezTo>
                    <a:pt x="739679" y="0"/>
                    <a:pt x="760598" y="20918"/>
                    <a:pt x="760598" y="46723"/>
                  </a:cubicBezTo>
                  <a:lnTo>
                    <a:pt x="760598" y="894842"/>
                  </a:lnTo>
                  <a:cubicBezTo>
                    <a:pt x="760598" y="907233"/>
                    <a:pt x="755675" y="919117"/>
                    <a:pt x="746913" y="927880"/>
                  </a:cubicBezTo>
                  <a:cubicBezTo>
                    <a:pt x="738151" y="936642"/>
                    <a:pt x="726267" y="941564"/>
                    <a:pt x="713875" y="941564"/>
                  </a:cubicBezTo>
                  <a:lnTo>
                    <a:pt x="46723" y="941564"/>
                  </a:lnTo>
                  <a:cubicBezTo>
                    <a:pt x="20918" y="941564"/>
                    <a:pt x="0" y="920646"/>
                    <a:pt x="0" y="894842"/>
                  </a:cubicBezTo>
                  <a:lnTo>
                    <a:pt x="0" y="46723"/>
                  </a:lnTo>
                  <a:cubicBezTo>
                    <a:pt x="0" y="20918"/>
                    <a:pt x="20918" y="0"/>
                    <a:pt x="46723" y="0"/>
                  </a:cubicBezTo>
                  <a:close/>
                </a:path>
              </a:pathLst>
            </a:custGeom>
            <a:blipFill>
              <a:blip r:embed="rId2"/>
              <a:stretch>
                <a:fillRect l="-7856" t="0" r="-7856" b="0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334079" y="5564431"/>
            <a:ext cx="1082042" cy="108204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34079" y="4013620"/>
            <a:ext cx="1082042" cy="108204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332284" y="7113198"/>
            <a:ext cx="1082042" cy="108204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213502" y="660616"/>
            <a:ext cx="8202619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PROBLEM STATEMENT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5596960" y="1539161"/>
            <a:ext cx="7719139" cy="7719139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884C7">
                <a:alpha val="49804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6397710" y="1028700"/>
            <a:ext cx="860074" cy="333578"/>
            <a:chOff x="0" y="0"/>
            <a:chExt cx="1146765" cy="444771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884C7">
                  <a:alpha val="49804"/>
                </a:srgbClr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884C7">
                  <a:alpha val="49804"/>
                </a:srgbClr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TextBox 34" id="34"/>
          <p:cNvSpPr txBox="true"/>
          <p:nvPr/>
        </p:nvSpPr>
        <p:spPr>
          <a:xfrm rot="0">
            <a:off x="15864534" y="558699"/>
            <a:ext cx="13932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975495" y="5668575"/>
            <a:ext cx="6081089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Difficulty in experimenting with automata processes (e.g., minimization, conversion)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949521" y="4176325"/>
            <a:ext cx="6081089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Lack of interactive tools for visualizing DFA, NFA, and related concepts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231319" y="3377565"/>
            <a:ext cx="396810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KEY ISSUES: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603631" y="4393232"/>
            <a:ext cx="54293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603631" y="5944043"/>
            <a:ext cx="54293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601837" y="7492810"/>
            <a:ext cx="54293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949521" y="7211505"/>
            <a:ext cx="6081089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Need for an accessible platform for students and educators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467429" y="8922951"/>
            <a:ext cx="7723822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AutoMates is a web-based Finite Automata Simulator offering interactive simulations, real-time visualizations, hands-on experimentation, and integrated tutorials for DFA/NFA learning.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372179" y="8452416"/>
            <a:ext cx="298267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PROPOS</a:t>
            </a: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ED SOLUTION: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229027" y="2156778"/>
            <a:ext cx="7962224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 address the challenges of grasping complex Finite Automata by offering an intuitive and interactive web-based learning environment.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144000" y="1638618"/>
            <a:ext cx="183149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OBJECTIVE: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96960" y="1539161"/>
            <a:ext cx="7719139" cy="771913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884C7">
                <a:alpha val="4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397710" y="1028700"/>
            <a:ext cx="860074" cy="333578"/>
            <a:chOff x="0" y="0"/>
            <a:chExt cx="1146765" cy="444771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884C7">
                  <a:alpha val="49804"/>
                </a:srgbClr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884C7">
                  <a:alpha val="49804"/>
                </a:srgbClr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9144000" y="2782651"/>
            <a:ext cx="9005666" cy="5382786"/>
            <a:chOff x="0" y="0"/>
            <a:chExt cx="962835" cy="5754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62835" cy="575497"/>
            </a:xfrm>
            <a:custGeom>
              <a:avLst/>
              <a:gdLst/>
              <a:ahLst/>
              <a:cxnLst/>
              <a:rect r="r" b="b" t="t" l="l"/>
              <a:pathLst>
                <a:path h="575497" w="962835">
                  <a:moveTo>
                    <a:pt x="19772" y="0"/>
                  </a:moveTo>
                  <a:lnTo>
                    <a:pt x="943063" y="0"/>
                  </a:lnTo>
                  <a:cubicBezTo>
                    <a:pt x="948307" y="0"/>
                    <a:pt x="953336" y="2083"/>
                    <a:pt x="957044" y="5791"/>
                  </a:cubicBezTo>
                  <a:cubicBezTo>
                    <a:pt x="960752" y="9499"/>
                    <a:pt x="962835" y="14528"/>
                    <a:pt x="962835" y="19772"/>
                  </a:cubicBezTo>
                  <a:lnTo>
                    <a:pt x="962835" y="555725"/>
                  </a:lnTo>
                  <a:cubicBezTo>
                    <a:pt x="962835" y="566645"/>
                    <a:pt x="953983" y="575497"/>
                    <a:pt x="943063" y="575497"/>
                  </a:cubicBezTo>
                  <a:lnTo>
                    <a:pt x="19772" y="575497"/>
                  </a:lnTo>
                  <a:cubicBezTo>
                    <a:pt x="8852" y="575497"/>
                    <a:pt x="0" y="566645"/>
                    <a:pt x="0" y="555725"/>
                  </a:cubicBezTo>
                  <a:lnTo>
                    <a:pt x="0" y="19772"/>
                  </a:lnTo>
                  <a:cubicBezTo>
                    <a:pt x="0" y="8852"/>
                    <a:pt x="8852" y="0"/>
                    <a:pt x="1977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-31726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-5028099" y="1539161"/>
            <a:ext cx="7719139" cy="771913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884C7">
                <a:alpha val="49804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30217" y="1013257"/>
            <a:ext cx="860074" cy="333578"/>
            <a:chOff x="0" y="0"/>
            <a:chExt cx="1146765" cy="444771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884C7">
                  <a:alpha val="49804"/>
                </a:srgbClr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884C7">
                  <a:alpha val="49804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24" id="24"/>
          <p:cNvGrpSpPr/>
          <p:nvPr/>
        </p:nvGrpSpPr>
        <p:grpSpPr>
          <a:xfrm rot="0">
            <a:off x="1151356" y="5648928"/>
            <a:ext cx="1082042" cy="1082042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33752" y="4214461"/>
            <a:ext cx="1082042" cy="1082042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49562" y="7083395"/>
            <a:ext cx="1082042" cy="1082042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131958" y="2552025"/>
            <a:ext cx="7733535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Develop a website with tools to simulate and visualize Finite Automata concepts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30657" y="2081490"/>
            <a:ext cx="183149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GOAL: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8700" y="3642078"/>
            <a:ext cx="183149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SCOPE: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766799" y="6028540"/>
            <a:ext cx="608108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Step-by-step visualizations for learning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749194" y="4417860"/>
            <a:ext cx="6081089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Interactive simulations for DFA, NFA, regex, and more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03305" y="4594072"/>
            <a:ext cx="54293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20909" y="6028540"/>
            <a:ext cx="54293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19114" y="7463007"/>
            <a:ext cx="54293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766799" y="7463007"/>
            <a:ext cx="608108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User-friendly interface for students and educators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213502" y="660616"/>
            <a:ext cx="8202619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PROJECT OVERVIEW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864534" y="558699"/>
            <a:ext cx="13932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02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31958" y="8950298"/>
            <a:ext cx="773353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B.Tech CSE students, Theory of Computation enthusiasts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30657" y="8479763"/>
            <a:ext cx="268687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TARGET AUDIENCE: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96960" y="1539161"/>
            <a:ext cx="7719139" cy="771913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884C7">
                <a:alpha val="4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397710" y="1028700"/>
            <a:ext cx="860074" cy="333578"/>
            <a:chOff x="0" y="0"/>
            <a:chExt cx="1146765" cy="444771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884C7">
                  <a:alpha val="49804"/>
                </a:srgbClr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884C7">
                  <a:alpha val="49804"/>
                </a:srgbClr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-5028099" y="1539161"/>
            <a:ext cx="7719139" cy="771913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884C7">
                <a:alpha val="49804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30217" y="1013257"/>
            <a:ext cx="860074" cy="333578"/>
            <a:chOff x="0" y="0"/>
            <a:chExt cx="1146765" cy="444771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884C7">
                  <a:alpha val="49804"/>
                </a:srgbClr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884C7">
                  <a:alpha val="49804"/>
                </a:srgbClr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6171142" y="2906454"/>
            <a:ext cx="2009364" cy="2009364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172283" y="2906454"/>
            <a:ext cx="2009364" cy="2009364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343822" y="2906454"/>
            <a:ext cx="2009364" cy="2009364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653558" y="2686989"/>
            <a:ext cx="138361" cy="5308556"/>
            <a:chOff x="0" y="0"/>
            <a:chExt cx="36441" cy="139813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6441" cy="1398138"/>
            </a:xfrm>
            <a:custGeom>
              <a:avLst/>
              <a:gdLst/>
              <a:ahLst/>
              <a:cxnLst/>
              <a:rect r="r" b="b" t="t" l="l"/>
              <a:pathLst>
                <a:path h="1398138" w="36441">
                  <a:moveTo>
                    <a:pt x="0" y="0"/>
                  </a:moveTo>
                  <a:lnTo>
                    <a:pt x="36441" y="0"/>
                  </a:lnTo>
                  <a:lnTo>
                    <a:pt x="36441" y="1398138"/>
                  </a:lnTo>
                  <a:lnTo>
                    <a:pt x="0" y="1398138"/>
                  </a:lnTo>
                  <a:close/>
                </a:path>
              </a:pathLst>
            </a:custGeom>
            <a:solidFill>
              <a:srgbClr val="7884C7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36441" cy="1436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2213502" y="276529"/>
            <a:ext cx="14184207" cy="1934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STRATEGIES TO ADDRESS CHALLENGES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864534" y="558699"/>
            <a:ext cx="13932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03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671703" y="3642686"/>
            <a:ext cx="100824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839544" y="6163592"/>
            <a:ext cx="4279081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Use well-documented libraries and reference materials</a:t>
            </a:r>
          </a:p>
          <a:p>
            <a:pPr algn="ctr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Modular coding for easier debugging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5330994" y="5530180"/>
            <a:ext cx="3689658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COMPLEX ALGORITHMS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672845" y="3642686"/>
            <a:ext cx="100824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511308" y="5344442"/>
            <a:ext cx="3689658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CROSS-BROWSER COMPATIBILITY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844383" y="3642686"/>
            <a:ext cx="100824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824727" y="6357902"/>
            <a:ext cx="3689658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Conduct user testing with peers</a:t>
            </a:r>
          </a:p>
          <a:p>
            <a:pPr algn="ctr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Iterate based on feedback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696267" y="5531638"/>
            <a:ext cx="3689658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UI INTUITIVENESS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01494" y="4642767"/>
            <a:ext cx="3607643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 u="sng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CHALLENGES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412541" y="6357902"/>
            <a:ext cx="4279081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Test on Chrome, Firefox, and Safari</a:t>
            </a:r>
          </a:p>
          <a:p>
            <a:pPr algn="ctr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Use standardized web technologies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</a:p>
        </p:txBody>
      </p:sp>
      <p:grpSp>
        <p:nvGrpSpPr>
          <p:cNvPr name="Group 46" id="46"/>
          <p:cNvGrpSpPr/>
          <p:nvPr/>
        </p:nvGrpSpPr>
        <p:grpSpPr>
          <a:xfrm rot="0">
            <a:off x="9423005" y="9035062"/>
            <a:ext cx="705634" cy="705634"/>
            <a:chOff x="0" y="0"/>
            <a:chExt cx="812800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983976" y="9035062"/>
            <a:ext cx="705634" cy="705634"/>
            <a:chOff x="0" y="0"/>
            <a:chExt cx="812800" cy="812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2548165" y="8386070"/>
            <a:ext cx="331715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RISK MITIGATION: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432444" y="9189442"/>
            <a:ext cx="608108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Maintain regular backups and version control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004896" y="9189442"/>
            <a:ext cx="608108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Prioritize core features for MVP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3171240" y="9234215"/>
            <a:ext cx="35406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606556" y="9233192"/>
            <a:ext cx="35406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96960" y="1539161"/>
            <a:ext cx="7719139" cy="771913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884C7">
                <a:alpha val="4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397710" y="1028700"/>
            <a:ext cx="860074" cy="333578"/>
            <a:chOff x="0" y="0"/>
            <a:chExt cx="1146765" cy="444771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884C7">
                  <a:alpha val="49804"/>
                </a:srgbClr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884C7">
                  <a:alpha val="49804"/>
                </a:srgbClr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7852014" y="2801869"/>
            <a:ext cx="10045952" cy="4862808"/>
            <a:chOff x="0" y="0"/>
            <a:chExt cx="1177990" cy="57021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77990" cy="570214"/>
            </a:xfrm>
            <a:custGeom>
              <a:avLst/>
              <a:gdLst/>
              <a:ahLst/>
              <a:cxnLst/>
              <a:rect r="r" b="b" t="t" l="l"/>
              <a:pathLst>
                <a:path h="570214" w="1177990">
                  <a:moveTo>
                    <a:pt x="17725" y="0"/>
                  </a:moveTo>
                  <a:lnTo>
                    <a:pt x="1160265" y="0"/>
                  </a:lnTo>
                  <a:cubicBezTo>
                    <a:pt x="1164966" y="0"/>
                    <a:pt x="1169475" y="1867"/>
                    <a:pt x="1172799" y="5192"/>
                  </a:cubicBezTo>
                  <a:cubicBezTo>
                    <a:pt x="1176123" y="8516"/>
                    <a:pt x="1177990" y="13024"/>
                    <a:pt x="1177990" y="17725"/>
                  </a:cubicBezTo>
                  <a:lnTo>
                    <a:pt x="1177990" y="552489"/>
                  </a:lnTo>
                  <a:cubicBezTo>
                    <a:pt x="1177990" y="557190"/>
                    <a:pt x="1176123" y="561698"/>
                    <a:pt x="1172799" y="565022"/>
                  </a:cubicBezTo>
                  <a:cubicBezTo>
                    <a:pt x="1169475" y="568346"/>
                    <a:pt x="1164966" y="570214"/>
                    <a:pt x="1160265" y="570214"/>
                  </a:cubicBezTo>
                  <a:lnTo>
                    <a:pt x="17725" y="570214"/>
                  </a:lnTo>
                  <a:cubicBezTo>
                    <a:pt x="13024" y="570214"/>
                    <a:pt x="8516" y="568346"/>
                    <a:pt x="5192" y="565022"/>
                  </a:cubicBezTo>
                  <a:cubicBezTo>
                    <a:pt x="1867" y="561698"/>
                    <a:pt x="0" y="557190"/>
                    <a:pt x="0" y="552489"/>
                  </a:cubicBezTo>
                  <a:lnTo>
                    <a:pt x="0" y="17725"/>
                  </a:lnTo>
                  <a:cubicBezTo>
                    <a:pt x="0" y="13024"/>
                    <a:pt x="1867" y="8516"/>
                    <a:pt x="5192" y="5192"/>
                  </a:cubicBezTo>
                  <a:cubicBezTo>
                    <a:pt x="8516" y="1867"/>
                    <a:pt x="13024" y="0"/>
                    <a:pt x="17725" y="0"/>
                  </a:cubicBezTo>
                  <a:close/>
                </a:path>
              </a:pathLst>
            </a:custGeom>
            <a:blipFill>
              <a:blip r:embed="rId2"/>
              <a:stretch>
                <a:fillRect l="-5006" t="0" r="-5006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-5028099" y="1539161"/>
            <a:ext cx="7719139" cy="771913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884C7">
                <a:alpha val="49804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30217" y="1013257"/>
            <a:ext cx="860074" cy="333578"/>
            <a:chOff x="0" y="0"/>
            <a:chExt cx="1146765" cy="444771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884C7">
                  <a:alpha val="49804"/>
                </a:srgbClr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884C7">
                  <a:alpha val="49804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24" id="24"/>
          <p:cNvGrpSpPr/>
          <p:nvPr/>
        </p:nvGrpSpPr>
        <p:grpSpPr>
          <a:xfrm rot="0">
            <a:off x="1206661" y="9030932"/>
            <a:ext cx="865337" cy="865337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92582" y="7883752"/>
            <a:ext cx="865337" cy="865337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80665" y="2571976"/>
            <a:ext cx="402463" cy="4345942"/>
            <a:chOff x="0" y="0"/>
            <a:chExt cx="105999" cy="114461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5999" cy="1144610"/>
            </a:xfrm>
            <a:custGeom>
              <a:avLst/>
              <a:gdLst/>
              <a:ahLst/>
              <a:cxnLst/>
              <a:rect r="r" b="b" t="t" l="l"/>
              <a:pathLst>
                <a:path h="1144610" w="105999">
                  <a:moveTo>
                    <a:pt x="52999" y="0"/>
                  </a:moveTo>
                  <a:lnTo>
                    <a:pt x="52999" y="0"/>
                  </a:lnTo>
                  <a:cubicBezTo>
                    <a:pt x="67056" y="0"/>
                    <a:pt x="80536" y="5584"/>
                    <a:pt x="90475" y="15523"/>
                  </a:cubicBezTo>
                  <a:cubicBezTo>
                    <a:pt x="100415" y="25462"/>
                    <a:pt x="105999" y="38943"/>
                    <a:pt x="105999" y="52999"/>
                  </a:cubicBezTo>
                  <a:lnTo>
                    <a:pt x="105999" y="1091611"/>
                  </a:lnTo>
                  <a:cubicBezTo>
                    <a:pt x="105999" y="1120881"/>
                    <a:pt x="82270" y="1144610"/>
                    <a:pt x="52999" y="1144610"/>
                  </a:cubicBezTo>
                  <a:lnTo>
                    <a:pt x="52999" y="1144610"/>
                  </a:lnTo>
                  <a:cubicBezTo>
                    <a:pt x="23729" y="1144610"/>
                    <a:pt x="0" y="1120881"/>
                    <a:pt x="0" y="1091611"/>
                  </a:cubicBezTo>
                  <a:lnTo>
                    <a:pt x="0" y="52999"/>
                  </a:lnTo>
                  <a:cubicBezTo>
                    <a:pt x="0" y="23729"/>
                    <a:pt x="23729" y="0"/>
                    <a:pt x="52999" y="0"/>
                  </a:cubicBezTo>
                  <a:close/>
                </a:path>
              </a:pathLst>
            </a:custGeom>
            <a:solidFill>
              <a:srgbClr val="7884C7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05999" cy="1182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798068" y="2403446"/>
            <a:ext cx="7733535" cy="432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1" indent="-215900" lvl="1">
              <a:lnSpc>
                <a:spcPts val="5000"/>
              </a:lnSpc>
              <a:buAutoNum type="arabicPeriod" startAt="1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DFA Simulator for language recognition</a:t>
            </a:r>
          </a:p>
          <a:p>
            <a:pPr algn="just" marL="431801" indent="-215900" lvl="1">
              <a:lnSpc>
                <a:spcPts val="5000"/>
              </a:lnSpc>
              <a:buAutoNum type="arabicPeriod" startAt="1"/>
            </a:pP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NFA to DFA conversion with visualization</a:t>
            </a:r>
          </a:p>
          <a:p>
            <a:pPr algn="just" marL="431801" indent="-215900" lvl="1">
              <a:lnSpc>
                <a:spcPts val="5000"/>
              </a:lnSpc>
              <a:buAutoNum type="arabicPeriod" startAt="1"/>
            </a:pP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DFA Minimization Visualizer</a:t>
            </a:r>
          </a:p>
          <a:p>
            <a:pPr algn="just" marL="431801" indent="-215900" lvl="1">
              <a:lnSpc>
                <a:spcPts val="5000"/>
              </a:lnSpc>
              <a:buAutoNum type="arabicPeriod" startAt="1"/>
            </a:pP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Regex to DFA/NFA Converter</a:t>
            </a:r>
          </a:p>
          <a:p>
            <a:pPr algn="just" marL="431801" indent="-215900" lvl="1">
              <a:lnSpc>
                <a:spcPts val="5000"/>
              </a:lnSpc>
              <a:buAutoNum type="arabicPeriod" startAt="1"/>
            </a:pP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Palindrome and Balanced Brackets Detection</a:t>
            </a:r>
          </a:p>
          <a:p>
            <a:pPr algn="just" marL="431801" indent="-215900" lvl="1">
              <a:lnSpc>
                <a:spcPts val="5000"/>
              </a:lnSpc>
              <a:buAutoNum type="arabicPeriod" startAt="1"/>
            </a:pP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String Matching and Token Recognition</a:t>
            </a:r>
          </a:p>
          <a:p>
            <a:pPr algn="just" marL="431801" indent="-215900" lvl="1">
              <a:lnSpc>
                <a:spcPts val="5000"/>
              </a:lnSpc>
              <a:buAutoNum type="arabicPeriod" startAt="1"/>
            </a:pP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CFG to Normal Form (CNF/GNF)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92582" y="1997232"/>
            <a:ext cx="183149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CORE TOOLS: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92582" y="7308442"/>
            <a:ext cx="331715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ADDITIONAL FEATURES: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424340" y="9258300"/>
            <a:ext cx="608108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Probabilistic FA Exploration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471965" y="8117983"/>
            <a:ext cx="608108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Multi-State DFA Simulation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08150" y="8177799"/>
            <a:ext cx="43420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22229" y="9324979"/>
            <a:ext cx="43420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213502" y="660616"/>
            <a:ext cx="8202619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KEY FEATURES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5864534" y="558699"/>
            <a:ext cx="13932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99451" y="1536933"/>
            <a:ext cx="7719139" cy="771913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884C7">
                <a:alpha val="4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397710" y="1028700"/>
            <a:ext cx="860074" cy="333578"/>
            <a:chOff x="0" y="0"/>
            <a:chExt cx="1146765" cy="444771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884C7">
                  <a:alpha val="49804"/>
                </a:srgbClr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884C7">
                  <a:alpha val="49804"/>
                </a:srgbClr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-5028099" y="1539161"/>
            <a:ext cx="7719139" cy="771913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884C7">
                <a:alpha val="49804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30217" y="1013257"/>
            <a:ext cx="860074" cy="333578"/>
            <a:chOff x="0" y="0"/>
            <a:chExt cx="1146765" cy="444771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884C7">
                  <a:alpha val="49804"/>
                </a:srgbClr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884C7">
                  <a:alpha val="49804"/>
                </a:srgbClr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1206661" y="4736725"/>
            <a:ext cx="865337" cy="865337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92582" y="3662467"/>
            <a:ext cx="865337" cy="865337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39790" y="5850660"/>
            <a:ext cx="865337" cy="865337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30265" y="8974216"/>
            <a:ext cx="865337" cy="865337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16186" y="7827036"/>
            <a:ext cx="865337" cy="865337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12065353" y="1457323"/>
            <a:ext cx="5749349" cy="8629417"/>
          </a:xfrm>
          <a:custGeom>
            <a:avLst/>
            <a:gdLst/>
            <a:ahLst/>
            <a:cxnLst/>
            <a:rect r="r" b="b" t="t" l="l"/>
            <a:pathLst>
              <a:path h="8629417" w="5749349">
                <a:moveTo>
                  <a:pt x="0" y="0"/>
                </a:moveTo>
                <a:lnTo>
                  <a:pt x="5749349" y="0"/>
                </a:lnTo>
                <a:lnTo>
                  <a:pt x="5749349" y="8629416"/>
                </a:lnTo>
                <a:lnTo>
                  <a:pt x="0" y="86294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265025" y="2247369"/>
            <a:ext cx="11005810" cy="766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99"/>
              </a:lnSpc>
            </a:pPr>
            <a:r>
              <a:rPr lang="en-US" sz="27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web-based platform hosting a suite of</a:t>
            </a:r>
            <a:r>
              <a:rPr lang="en-US" sz="27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Finite Automata tools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06661" y="1950189"/>
            <a:ext cx="2811112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SOLUTION: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65025" y="2999527"/>
            <a:ext cx="3317157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  <a:spcBef>
                <a:spcPct val="0"/>
              </a:spcBef>
            </a:pPr>
            <a:r>
              <a:rPr lang="en-US" b="true" sz="39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APPROACH: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213502" y="4816262"/>
            <a:ext cx="11273410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Step-by-step visualizations for complex processes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213502" y="3710092"/>
            <a:ext cx="10748317" cy="639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Interactive simulations with real-time feedback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22229" y="3831747"/>
            <a:ext cx="43420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31754" y="4990475"/>
            <a:ext cx="43420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213502" y="660616"/>
            <a:ext cx="8202619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PROPOSED SOLUTION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5864534" y="558699"/>
            <a:ext cx="13932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05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213502" y="6098034"/>
            <a:ext cx="11468427" cy="639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Modular design for easy tool addition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74407" y="6106607"/>
            <a:ext cx="43420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92582" y="6985712"/>
            <a:ext cx="3591497" cy="60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USER BENEFITS: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213502" y="9087631"/>
            <a:ext cx="1046581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Accessible learning for Theory of Computation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260641" y="7994729"/>
            <a:ext cx="1430051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Enhanced understanding through hands-on experimentation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45832" y="8082041"/>
            <a:ext cx="43420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455357" y="9227966"/>
            <a:ext cx="43420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96960" y="1539161"/>
            <a:ext cx="7719139" cy="771913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884C7">
                <a:alpha val="4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397710" y="1028700"/>
            <a:ext cx="860074" cy="333578"/>
            <a:chOff x="0" y="0"/>
            <a:chExt cx="1146765" cy="444771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884C7">
                  <a:alpha val="49804"/>
                </a:srgbClr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884C7">
                  <a:alpha val="49804"/>
                </a:srgbClr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-5028099" y="1539161"/>
            <a:ext cx="7719139" cy="771913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884C7">
                <a:alpha val="49804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30217" y="1013257"/>
            <a:ext cx="860074" cy="333578"/>
            <a:chOff x="0" y="0"/>
            <a:chExt cx="1146765" cy="444771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884C7">
                  <a:alpha val="49804"/>
                </a:srgbClr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884C7">
                  <a:alpha val="49804"/>
                </a:srgbClr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1204063" y="3464454"/>
            <a:ext cx="705634" cy="705634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92582" y="2528992"/>
            <a:ext cx="705634" cy="705634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11830" y="4431749"/>
            <a:ext cx="705634" cy="705634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04063" y="6733879"/>
            <a:ext cx="705634" cy="705634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92582" y="5798418"/>
            <a:ext cx="705634" cy="705634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10040751" y="2448489"/>
            <a:ext cx="6356958" cy="4832770"/>
          </a:xfrm>
          <a:custGeom>
            <a:avLst/>
            <a:gdLst/>
            <a:ahLst/>
            <a:cxnLst/>
            <a:rect r="r" b="b" t="t" l="l"/>
            <a:pathLst>
              <a:path h="4832770" w="6356958">
                <a:moveTo>
                  <a:pt x="0" y="0"/>
                </a:moveTo>
                <a:lnTo>
                  <a:pt x="6356959" y="0"/>
                </a:lnTo>
                <a:lnTo>
                  <a:pt x="6356959" y="4832770"/>
                </a:lnTo>
                <a:lnTo>
                  <a:pt x="0" y="48327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1538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2299247" y="2501807"/>
            <a:ext cx="1839967" cy="1925293"/>
          </a:xfrm>
          <a:custGeom>
            <a:avLst/>
            <a:gdLst/>
            <a:ahLst/>
            <a:cxnLst/>
            <a:rect r="r" b="b" t="t" l="l"/>
            <a:pathLst>
              <a:path h="1925293" w="1839967">
                <a:moveTo>
                  <a:pt x="0" y="0"/>
                </a:moveTo>
                <a:lnTo>
                  <a:pt x="1839967" y="0"/>
                </a:lnTo>
                <a:lnTo>
                  <a:pt x="1839967" y="1925293"/>
                </a:lnTo>
                <a:lnTo>
                  <a:pt x="0" y="19252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18" t="0" r="-2318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0400588" y="6196008"/>
            <a:ext cx="2797850" cy="783626"/>
          </a:xfrm>
          <a:custGeom>
            <a:avLst/>
            <a:gdLst/>
            <a:ahLst/>
            <a:cxnLst/>
            <a:rect r="r" b="b" t="t" l="l"/>
            <a:pathLst>
              <a:path h="783626" w="2797850">
                <a:moveTo>
                  <a:pt x="0" y="0"/>
                </a:moveTo>
                <a:lnTo>
                  <a:pt x="2797850" y="0"/>
                </a:lnTo>
                <a:lnTo>
                  <a:pt x="2797850" y="783626"/>
                </a:lnTo>
                <a:lnTo>
                  <a:pt x="0" y="7836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96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3416286" y="4585905"/>
            <a:ext cx="1543364" cy="1445856"/>
          </a:xfrm>
          <a:custGeom>
            <a:avLst/>
            <a:gdLst/>
            <a:ahLst/>
            <a:cxnLst/>
            <a:rect r="r" b="b" t="t" l="l"/>
            <a:pathLst>
              <a:path h="1445856" w="1543364">
                <a:moveTo>
                  <a:pt x="0" y="0"/>
                </a:moveTo>
                <a:lnTo>
                  <a:pt x="1543364" y="0"/>
                </a:lnTo>
                <a:lnTo>
                  <a:pt x="1543364" y="1445856"/>
                </a:lnTo>
                <a:lnTo>
                  <a:pt x="0" y="14458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371" r="0" b="-3371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3219231" y="6095396"/>
            <a:ext cx="3178479" cy="1035051"/>
          </a:xfrm>
          <a:custGeom>
            <a:avLst/>
            <a:gdLst/>
            <a:ahLst/>
            <a:cxnLst/>
            <a:rect r="r" b="b" t="t" l="l"/>
            <a:pathLst>
              <a:path h="1035051" w="3178479">
                <a:moveTo>
                  <a:pt x="0" y="0"/>
                </a:moveTo>
                <a:lnTo>
                  <a:pt x="3178479" y="0"/>
                </a:lnTo>
                <a:lnTo>
                  <a:pt x="3178479" y="1035050"/>
                </a:lnTo>
                <a:lnTo>
                  <a:pt x="0" y="1035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7429" r="0" b="-42946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192582" y="2001307"/>
            <a:ext cx="3317157" cy="38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FRONTEND: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213502" y="3628358"/>
            <a:ext cx="608108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Bootstrap for dynamic UI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213502" y="2692897"/>
            <a:ext cx="608108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HTML and  CSS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79846" y="2737670"/>
            <a:ext cx="35406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87614" y="3672108"/>
            <a:ext cx="35406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213502" y="660616"/>
            <a:ext cx="10408603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TECHNOLOGIES TO BE USED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5864534" y="558699"/>
            <a:ext cx="13932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06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213502" y="4641195"/>
            <a:ext cx="608108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D3.js for visualizations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03148" y="4641195"/>
            <a:ext cx="35406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92582" y="5270733"/>
            <a:ext cx="3317157" cy="38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BACKEND: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213502" y="6897784"/>
            <a:ext cx="608108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Python (optional) for complex algorithms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213502" y="5962322"/>
            <a:ext cx="608108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Node.js with Express.js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79846" y="6007096"/>
            <a:ext cx="35406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87614" y="6941534"/>
            <a:ext cx="35406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96960" y="1539161"/>
            <a:ext cx="7719139" cy="771913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884C7">
                <a:alpha val="4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397710" y="1028700"/>
            <a:ext cx="860074" cy="333578"/>
            <a:chOff x="0" y="0"/>
            <a:chExt cx="1146765" cy="444771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884C7">
                  <a:alpha val="49804"/>
                </a:srgbClr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884C7">
                  <a:alpha val="49804"/>
                </a:srgbClr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-5028099" y="1539161"/>
            <a:ext cx="7719139" cy="771913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884C7">
                <a:alpha val="49804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30217" y="1013257"/>
            <a:ext cx="860074" cy="333578"/>
            <a:chOff x="0" y="0"/>
            <a:chExt cx="1146765" cy="444771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884C7">
                  <a:alpha val="49804"/>
                </a:srgbClr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884C7">
                  <a:alpha val="49804"/>
                </a:srgbClr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aphicFrame>
        <p:nvGraphicFramePr>
          <p:cNvPr name="Table 22" id="22"/>
          <p:cNvGraphicFramePr>
            <a:graphicFrameLocks noGrp="true"/>
          </p:cNvGraphicFramePr>
          <p:nvPr/>
        </p:nvGraphicFramePr>
        <p:xfrm>
          <a:off x="2940708" y="2014103"/>
          <a:ext cx="12425634" cy="4686300"/>
        </p:xfrm>
        <a:graphic>
          <a:graphicData uri="http://schemas.openxmlformats.org/drawingml/2006/table">
            <a:tbl>
              <a:tblPr/>
              <a:tblGrid>
                <a:gridCol w="5961995"/>
                <a:gridCol w="6463638"/>
              </a:tblGrid>
              <a:tr h="1031757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000000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FEASIBILITY: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57150">
                      <a:solidFill>
                        <a:srgbClr val="788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788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7150">
                      <a:solidFill>
                        <a:srgbClr val="788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788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000000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CHALLENGES: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788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7150">
                      <a:solidFill>
                        <a:srgbClr val="788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7150">
                      <a:solidFill>
                        <a:srgbClr val="788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788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4967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000000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TECHNICAL: FEASIBLE WITH OPEN-SOURCE TOOLS AND STUDENT SKILLSET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57150">
                      <a:solidFill>
                        <a:srgbClr val="788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788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788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788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000000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COMPLEX ALGORITHM IMPLEMENTATION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788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7150">
                      <a:solidFill>
                        <a:srgbClr val="788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788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788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4967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000000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ECONOMIC: LOW-COST DEVELOPMENT USING FREE PLATFORMS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57150">
                      <a:solidFill>
                        <a:srgbClr val="788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788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788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788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000000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ENSURING CROSS-BROWSER COMPATIBILITY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788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7150">
                      <a:solidFill>
                        <a:srgbClr val="788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788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788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4609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000000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OPERATIONAL: MANAGEABLE WITHIN A SEMESTER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57150">
                      <a:solidFill>
                        <a:srgbClr val="788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788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788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7150">
                      <a:solidFill>
                        <a:srgbClr val="788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000" strike="noStrike" u="none">
                          <a:solidFill>
                            <a:srgbClr val="000000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USER INTERFACE INTUITIVENESS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788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7150">
                      <a:solidFill>
                        <a:srgbClr val="788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788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7150">
                      <a:solidFill>
                        <a:srgbClr val="788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23" id="23"/>
          <p:cNvSpPr/>
          <p:nvPr/>
        </p:nvSpPr>
        <p:spPr>
          <a:xfrm flipH="false" flipV="false" rot="0">
            <a:off x="10290367" y="7894526"/>
            <a:ext cx="1652923" cy="1641096"/>
          </a:xfrm>
          <a:custGeom>
            <a:avLst/>
            <a:gdLst/>
            <a:ahLst/>
            <a:cxnLst/>
            <a:rect r="r" b="b" t="t" l="l"/>
            <a:pathLst>
              <a:path h="1641096" w="1652923">
                <a:moveTo>
                  <a:pt x="0" y="0"/>
                </a:moveTo>
                <a:lnTo>
                  <a:pt x="1652924" y="0"/>
                </a:lnTo>
                <a:lnTo>
                  <a:pt x="1652924" y="1641095"/>
                </a:lnTo>
                <a:lnTo>
                  <a:pt x="0" y="16410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770593" y="7987166"/>
            <a:ext cx="1679982" cy="1655056"/>
          </a:xfrm>
          <a:custGeom>
            <a:avLst/>
            <a:gdLst/>
            <a:ahLst/>
            <a:cxnLst/>
            <a:rect r="r" b="b" t="t" l="l"/>
            <a:pathLst>
              <a:path h="1655056" w="1679982">
                <a:moveTo>
                  <a:pt x="0" y="0"/>
                </a:moveTo>
                <a:lnTo>
                  <a:pt x="1679982" y="0"/>
                </a:lnTo>
                <a:lnTo>
                  <a:pt x="1679982" y="1655056"/>
                </a:lnTo>
                <a:lnTo>
                  <a:pt x="0" y="16550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213502" y="660616"/>
            <a:ext cx="11317235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FEASIBILITY AND VIABILITY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864534" y="558699"/>
            <a:ext cx="13932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07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940708" y="7319830"/>
            <a:ext cx="331715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RISKS: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25797" y="8465444"/>
            <a:ext cx="608108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Bugs in visualization logic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726800" y="8465444"/>
            <a:ext cx="608108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Time constraints for feature completion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96960" y="1539161"/>
            <a:ext cx="7719139" cy="771913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884C7">
                <a:alpha val="4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397710" y="1028700"/>
            <a:ext cx="860074" cy="333578"/>
            <a:chOff x="0" y="0"/>
            <a:chExt cx="1146765" cy="444771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884C7">
                  <a:alpha val="49804"/>
                </a:srgbClr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884C7">
                  <a:alpha val="49804"/>
                </a:srgbClr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1030217" y="1013257"/>
            <a:ext cx="860074" cy="333578"/>
            <a:chOff x="0" y="0"/>
            <a:chExt cx="1146765" cy="444771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884C7">
                  <a:alpha val="49804"/>
                </a:srgbClr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884C7">
                  <a:alpha val="49804"/>
                </a:srgbClr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0">
            <a:off x="1116156" y="4230264"/>
            <a:ext cx="705634" cy="70563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04676" y="3294802"/>
            <a:ext cx="705634" cy="705634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23923" y="5197559"/>
            <a:ext cx="705634" cy="705634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04676" y="7115361"/>
            <a:ext cx="298472" cy="1952413"/>
            <a:chOff x="0" y="0"/>
            <a:chExt cx="78610" cy="5142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8610" cy="514216"/>
            </a:xfrm>
            <a:custGeom>
              <a:avLst/>
              <a:gdLst/>
              <a:ahLst/>
              <a:cxnLst/>
              <a:rect r="r" b="b" t="t" l="l"/>
              <a:pathLst>
                <a:path h="514216" w="78610">
                  <a:moveTo>
                    <a:pt x="39305" y="0"/>
                  </a:moveTo>
                  <a:lnTo>
                    <a:pt x="39305" y="0"/>
                  </a:lnTo>
                  <a:cubicBezTo>
                    <a:pt x="61012" y="0"/>
                    <a:pt x="78610" y="17597"/>
                    <a:pt x="78610" y="39305"/>
                  </a:cubicBezTo>
                  <a:lnTo>
                    <a:pt x="78610" y="474911"/>
                  </a:lnTo>
                  <a:cubicBezTo>
                    <a:pt x="78610" y="496618"/>
                    <a:pt x="61012" y="514216"/>
                    <a:pt x="39305" y="514216"/>
                  </a:cubicBezTo>
                  <a:lnTo>
                    <a:pt x="39305" y="514216"/>
                  </a:lnTo>
                  <a:cubicBezTo>
                    <a:pt x="17597" y="514216"/>
                    <a:pt x="0" y="496618"/>
                    <a:pt x="0" y="474911"/>
                  </a:cubicBezTo>
                  <a:lnTo>
                    <a:pt x="0" y="39305"/>
                  </a:lnTo>
                  <a:cubicBezTo>
                    <a:pt x="0" y="17597"/>
                    <a:pt x="17597" y="0"/>
                    <a:pt x="39305" y="0"/>
                  </a:cubicBezTo>
                  <a:close/>
                </a:path>
              </a:pathLst>
            </a:custGeom>
            <a:solidFill>
              <a:srgbClr val="7884C7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78610" cy="552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199210" y="3508204"/>
            <a:ext cx="705634" cy="705634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206977" y="2422953"/>
            <a:ext cx="705634" cy="705634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148437" y="2348017"/>
            <a:ext cx="4372240" cy="38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IMPACT ON TARGET AUDIENCE: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213502" y="4384643"/>
            <a:ext cx="608108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Encourages hands-on experimentation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213502" y="3449182"/>
            <a:ext cx="608108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Simplifies learning of Theory of Computation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91940" y="3493955"/>
            <a:ext cx="35406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99707" y="4428393"/>
            <a:ext cx="35406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213502" y="660616"/>
            <a:ext cx="12724639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POTENTIAL IMPACT AND BENEFITS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864534" y="558699"/>
            <a:ext cx="13932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08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213502" y="5397480"/>
            <a:ext cx="608108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Supports educators with teaching aids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15241" y="5397480"/>
            <a:ext cx="35406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30217" y="6953225"/>
            <a:ext cx="7733535" cy="181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1" indent="-215900" lvl="1">
              <a:lnSpc>
                <a:spcPts val="5000"/>
              </a:lnSpc>
              <a:buAutoNum type="arabicPeriod" startAt="1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Interactive and engag</a:t>
            </a: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 </a:t>
            </a: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lea</a:t>
            </a: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ning</a:t>
            </a: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exp</a:t>
            </a: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erience</a:t>
            </a:r>
          </a:p>
          <a:p>
            <a:pPr algn="just" marL="431801" indent="-215900" lvl="1">
              <a:lnSpc>
                <a:spcPts val="5000"/>
              </a:lnSpc>
              <a:buAutoNum type="arabicPeriod" startAt="1"/>
            </a:pP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Fr</a:t>
            </a: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 and </a:t>
            </a: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accessible to all stud</a:t>
            </a: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nt</a:t>
            </a: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</a:p>
          <a:p>
            <a:pPr algn="just" marL="431801" indent="-215900" lvl="1">
              <a:lnSpc>
                <a:spcPts val="5000"/>
              </a:lnSpc>
              <a:buAutoNum type="arabicPeriod" startAt="1"/>
            </a:pP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Sc</a:t>
            </a: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</a:t>
            </a: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able</a:t>
            </a: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for future enhancements</a:t>
            </a: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(e.</a:t>
            </a: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g., ne</a:t>
            </a: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 tools)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92582" y="6194658"/>
            <a:ext cx="2574326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BENEFITS: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382746" y="1991782"/>
            <a:ext cx="3317157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LONG-TERM VALUE: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178211" y="3511771"/>
            <a:ext cx="608108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Contribution to open-source education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178211" y="2576309"/>
            <a:ext cx="608108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Portfolio project for B.Tech students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79846" y="8718525"/>
            <a:ext cx="35406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382761" y="3706333"/>
            <a:ext cx="35406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422158" y="2578602"/>
            <a:ext cx="27527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01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-5028099" y="1539161"/>
            <a:ext cx="7719139" cy="7719139"/>
            <a:chOff x="0" y="0"/>
            <a:chExt cx="812800" cy="812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884C7">
                <a:alpha val="49804"/>
              </a:srgbClr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96960" y="1539161"/>
            <a:ext cx="7719139" cy="771913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884C7">
                <a:alpha val="4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397710" y="1028700"/>
            <a:ext cx="860074" cy="333578"/>
            <a:chOff x="0" y="0"/>
            <a:chExt cx="1146765" cy="444771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884C7">
                  <a:alpha val="49804"/>
                </a:srgbClr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884C7">
                  <a:alpha val="49804"/>
                </a:srgbClr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-5028099" y="1539161"/>
            <a:ext cx="7719139" cy="771913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884C7">
                <a:alpha val="49804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30217" y="1013257"/>
            <a:ext cx="860074" cy="333578"/>
            <a:chOff x="0" y="0"/>
            <a:chExt cx="1146765" cy="444771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884C7">
                  <a:alpha val="49804"/>
                </a:srgbClr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884C7">
                  <a:alpha val="49804"/>
                </a:srgbClr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1229428" y="3622855"/>
            <a:ext cx="865337" cy="865337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15349" y="2475676"/>
            <a:ext cx="865337" cy="865337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38953" y="4809073"/>
            <a:ext cx="865337" cy="865337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53031" y="7625499"/>
            <a:ext cx="865337" cy="865337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38953" y="6478320"/>
            <a:ext cx="865337" cy="865337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91131" y="8776586"/>
            <a:ext cx="865337" cy="865337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10918200" y="3558933"/>
            <a:ext cx="4886912" cy="6356958"/>
          </a:xfrm>
          <a:custGeom>
            <a:avLst/>
            <a:gdLst/>
            <a:ahLst/>
            <a:cxnLst/>
            <a:rect r="r" b="b" t="t" l="l"/>
            <a:pathLst>
              <a:path h="6356958" w="4886912">
                <a:moveTo>
                  <a:pt x="0" y="0"/>
                </a:moveTo>
                <a:lnTo>
                  <a:pt x="4886912" y="0"/>
                </a:lnTo>
                <a:lnTo>
                  <a:pt x="4886912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2213502" y="660616"/>
            <a:ext cx="12724639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CONCLUSION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864534" y="558699"/>
            <a:ext cx="13932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09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524249" y="2460383"/>
            <a:ext cx="7733535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0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y</a:t>
            </a: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</a:t>
            </a: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</a:t>
            </a: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 Finite Automata </a:t>
            </a: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Simula</a:t>
            </a: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</a:t>
            </a: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 at [Web</a:t>
            </a: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2000" strike="noStrike" u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ite URL]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500645" y="2107058"/>
            <a:ext cx="28351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CALL TO ACTION: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15349" y="1947991"/>
            <a:ext cx="331715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SUMMARY: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456632" y="3857086"/>
            <a:ext cx="608108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Interactive, visualized, and student-friendly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494732" y="2554468"/>
            <a:ext cx="6081089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Finite Automata Simulator: A comprehensive toolset for learning automata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44996" y="2730680"/>
            <a:ext cx="43420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54521" y="3876605"/>
            <a:ext cx="43420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456632" y="4888808"/>
            <a:ext cx="6081089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Addresses key challenges in Theory of Computation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73571" y="5065020"/>
            <a:ext cx="43420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38953" y="5903010"/>
            <a:ext cx="331715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FUTURE SCOPE: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456632" y="7859730"/>
            <a:ext cx="608108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Mobile app version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494732" y="6733325"/>
            <a:ext cx="608108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Add more tools (e.g., Turing Machine Simulator)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468599" y="6733325"/>
            <a:ext cx="43420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78124" y="7879249"/>
            <a:ext cx="43420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2494732" y="9010817"/>
            <a:ext cx="608108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Community contributions via open-source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516224" y="9030336"/>
            <a:ext cx="43420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16224" y="9030336"/>
            <a:ext cx="43420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397710" y="1028700"/>
            <a:ext cx="860074" cy="333578"/>
            <a:chOff x="0" y="0"/>
            <a:chExt cx="1146765" cy="44477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884C7">
                  <a:alpha val="49804"/>
                </a:srgbClr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884C7">
                  <a:alpha val="49804"/>
                </a:srgbClr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10" id="10"/>
          <p:cNvGrpSpPr/>
          <p:nvPr/>
        </p:nvGrpSpPr>
        <p:grpSpPr>
          <a:xfrm rot="0">
            <a:off x="1030217" y="1013257"/>
            <a:ext cx="860074" cy="333578"/>
            <a:chOff x="0" y="0"/>
            <a:chExt cx="1146765" cy="444771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884C7">
                  <a:alpha val="49804"/>
                </a:srgbClr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884C7">
                  <a:alpha val="49804"/>
                </a:srgbClr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TextBox 17" id="17"/>
          <p:cNvSpPr txBox="true"/>
          <p:nvPr/>
        </p:nvSpPr>
        <p:spPr>
          <a:xfrm rot="0">
            <a:off x="1516224" y="9030336"/>
            <a:ext cx="43420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-5028099" y="1539161"/>
            <a:ext cx="7719139" cy="7719139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884C7">
                <a:alpha val="49804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596960" y="1539161"/>
            <a:ext cx="7719139" cy="7719139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884C7">
                <a:alpha val="49804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3684082" y="3288848"/>
            <a:ext cx="10919837" cy="245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47"/>
              </a:lnSpc>
              <a:spcBef>
                <a:spcPct val="0"/>
              </a:spcBef>
            </a:pPr>
            <a:r>
              <a:rPr lang="en-US" b="true" sz="14462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THANK YOU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699428" y="5861808"/>
            <a:ext cx="4101475" cy="55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8"/>
              </a:lnSpc>
              <a:spcBef>
                <a:spcPct val="0"/>
              </a:spcBef>
            </a:pPr>
            <a:r>
              <a:rPr lang="en-US" b="true" sz="3227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-TEAM AUTOMATES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DAGmZ7SsdYs</dc:identifier>
  <dcterms:modified xsi:type="dcterms:W3CDTF">2011-08-01T06:04:30Z</dcterms:modified>
  <cp:revision>1</cp:revision>
  <dc:title>Automata</dc:title>
</cp:coreProperties>
</file>